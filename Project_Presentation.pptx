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Ingestion + Sampling</c:v>
                </c:pt>
              </c:strCache>
            </c:strRef>
          </c:tx>
          <c:spPr>
            <a:ln w="31750"/>
          </c:spPr>
          <c:cat>
            <c:strRef>
              <c:f>Sheet1!$A$2:$A$5</c:f>
              <c:strCache>
                <c:ptCount val="4"/>
                <c:pt idx="0">
                  <c:v>1K
(1%)</c:v>
                </c:pt>
                <c:pt idx="1">
                  <c:v>2K
(2%)</c:v>
                </c:pt>
                <c:pt idx="2">
                  <c:v>5K
(5%)</c:v>
                </c:pt>
                <c:pt idx="3">
                  <c:v>10K
(10%)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22</c:v>
                </c:pt>
                <c:pt idx="2">
                  <c:v>55</c:v>
                </c:pt>
                <c:pt idx="3">
                  <c:v>110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1A4-9041-B416-81E0D016ED3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Featurisation</c:v>
                </c:pt>
              </c:strCache>
            </c:strRef>
          </c:tx>
          <c:spPr>
            <a:ln w="31750"/>
          </c:spPr>
          <c:cat>
            <c:strRef>
              <c:f>Sheet1!$A$2:$A$5</c:f>
              <c:strCache>
                <c:ptCount val="4"/>
                <c:pt idx="0">
                  <c:v>1K
(1%)</c:v>
                </c:pt>
                <c:pt idx="1">
                  <c:v>2K
(2%)</c:v>
                </c:pt>
                <c:pt idx="2">
                  <c:v>5K
(5%)</c:v>
                </c:pt>
                <c:pt idx="3">
                  <c:v>10K
(10%)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16</c:v>
                </c:pt>
                <c:pt idx="2">
                  <c:v>42</c:v>
                </c:pt>
                <c:pt idx="3">
                  <c:v>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1A4-9041-B416-81E0D016ED3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LSH Fit + Self-Join</c:v>
                </c:pt>
              </c:strCache>
            </c:strRef>
          </c:tx>
          <c:spPr>
            <a:ln w="31750"/>
          </c:spPr>
          <c:cat>
            <c:strRef>
              <c:f>Sheet1!$A$2:$A$5</c:f>
              <c:strCache>
                <c:ptCount val="4"/>
                <c:pt idx="0">
                  <c:v>1K
(1%)</c:v>
                </c:pt>
                <c:pt idx="1">
                  <c:v>2K
(2%)</c:v>
                </c:pt>
                <c:pt idx="2">
                  <c:v>5K
(5%)</c:v>
                </c:pt>
                <c:pt idx="3">
                  <c:v>10K
(10%)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15</c:v>
                </c:pt>
                <c:pt idx="1">
                  <c:v>33</c:v>
                </c:pt>
                <c:pt idx="2">
                  <c:v>95</c:v>
                </c:pt>
                <c:pt idx="3">
                  <c:v>230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1A4-9041-B416-81E0D016ED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rPr lang="en-IN"/>
                  <a:t>Number of Documents (Sample 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rPr lang="en-IN"/>
                  <a:t>Wall-clock Time (seconds)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2E75B6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True Positives</c:v>
                </c:pt>
                <c:pt idx="1">
                  <c:v>False Positives</c:v>
                </c:pt>
                <c:pt idx="2">
                  <c:v>False Negatives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F38-264F-A396-9F39836DC7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itj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39" y="192610"/>
            <a:ext cx="2086405" cy="23894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35394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160"/>
              </a:lnSpc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rPr dirty="0"/>
              <a:t>Scalable Near-Duplicate Detection on Wikipedia</a:t>
            </a:r>
            <a:br>
              <a:rPr dirty="0"/>
            </a:br>
            <a:r>
              <a:rPr dirty="0"/>
              <a:t>Using Apache Spark and Locality-Sensitive Hashing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5394" y="4160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D6E4F0"/>
                </a:solidFill>
              </a:defRPr>
            </a:pPr>
            <a:r>
              <a:t>Machine Learning for Big Data | M.Tech. in Data and Computational Sciences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5394" y="48920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400"/>
              </a:spcAft>
              <a:defRPr sz="1800" b="0">
                <a:solidFill>
                  <a:srgbClr val="FFFFFF"/>
                </a:solidFill>
              </a:defRPr>
            </a:pPr>
            <a:r>
              <a:t>Basu Singh (M24AID008)  |  Nitin Jain (M24AID022)  |  Shashi Saurav (M24AID048)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5394" y="5623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D6E4F0"/>
                </a:solidFill>
              </a:defRPr>
            </a:pPr>
            <a:r>
              <a:rPr dirty="0"/>
              <a:t>Indian Institute of Technology Jodhpur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8288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Machine Learning for Big Data | IIT Jodhpur | M.Tech. DCS | March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400"/>
              </a:spcAft>
              <a:defRPr sz="2000" b="1">
                <a:solidFill>
                  <a:srgbClr val="1B3A5C"/>
                </a:solidFill>
              </a:defRPr>
            </a:pPr>
            <a: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486400" cy="2807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1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585858"/>
                </a:solidFill>
              </a:defRPr>
            </a:pPr>
            <a:r>
              <a:rPr dirty="0"/>
              <a:t>Wikipedia has 6M+ English articles with significant textual overlap</a:t>
            </a:r>
          </a:p>
          <a:p>
            <a:pPr marL="285750" indent="-285750">
              <a:lnSpc>
                <a:spcPts val="21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585858"/>
                </a:solidFill>
              </a:defRPr>
            </a:pPr>
            <a:r>
              <a:rPr dirty="0"/>
              <a:t>Articles get copied, forked, merged — leaving near-duplicate content</a:t>
            </a:r>
          </a:p>
          <a:p>
            <a:pPr marL="285750" indent="-285750">
              <a:lnSpc>
                <a:spcPts val="21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585858"/>
                </a:solidFill>
              </a:defRPr>
            </a:pPr>
            <a:r>
              <a:rPr dirty="0"/>
              <a:t>Naive pairwise comparison: O(n^2) = ~18 trillion pairs for 6M docs</a:t>
            </a:r>
          </a:p>
          <a:p>
            <a:pPr marL="285750" indent="-285750">
              <a:lnSpc>
                <a:spcPts val="21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585858"/>
                </a:solidFill>
              </a:defRPr>
            </a:pPr>
            <a:r>
              <a:rPr dirty="0"/>
              <a:t>Data too large for single-machine memory</a:t>
            </a:r>
          </a:p>
          <a:p>
            <a:pPr marL="285750" indent="-285750">
              <a:lnSpc>
                <a:spcPts val="21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585858"/>
                </a:solidFill>
              </a:defRPr>
            </a:pPr>
            <a:r>
              <a:rPr dirty="0"/>
              <a:t>Duplicates hurt downstream NLP tasks: search, classification, knowledge graphs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400"/>
              </a:spcAft>
              <a:defRPr sz="2000" b="1">
                <a:solidFill>
                  <a:srgbClr val="1B3A5C"/>
                </a:solidFill>
              </a:defRPr>
            </a:pPr>
            <a:r>
              <a:t>Our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011680"/>
            <a:ext cx="5029200" cy="1999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1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585858"/>
                </a:solidFill>
              </a:defRPr>
            </a:pPr>
            <a:r>
              <a:rPr dirty="0"/>
              <a:t>Apache Spark (</a:t>
            </a:r>
            <a:r>
              <a:rPr dirty="0" err="1"/>
              <a:t>PySpark</a:t>
            </a:r>
            <a:r>
              <a:rPr dirty="0"/>
              <a:t>) for distributed processing</a:t>
            </a:r>
          </a:p>
          <a:p>
            <a:pPr marL="285750" indent="-285750">
              <a:lnSpc>
                <a:spcPts val="21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585858"/>
                </a:solidFill>
              </a:defRPr>
            </a:pPr>
            <a:r>
              <a:rPr dirty="0" err="1"/>
              <a:t>MinHash</a:t>
            </a:r>
            <a:r>
              <a:rPr dirty="0"/>
              <a:t> for fast Jaccard similarity estimation</a:t>
            </a:r>
          </a:p>
          <a:p>
            <a:pPr marL="285750" indent="-285750">
              <a:lnSpc>
                <a:spcPts val="21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585858"/>
                </a:solidFill>
              </a:defRPr>
            </a:pPr>
            <a:r>
              <a:rPr dirty="0"/>
              <a:t>Locality-Sensitive Hashing (LSH) for sub-quadratic candidate generation</a:t>
            </a:r>
          </a:p>
          <a:p>
            <a:pPr marL="285750" indent="-285750">
              <a:lnSpc>
                <a:spcPts val="21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585858"/>
                </a:solidFill>
              </a:defRPr>
            </a:pPr>
            <a:r>
              <a:rPr dirty="0"/>
              <a:t>Only compare articles within the same LSH bucket</a:t>
            </a:r>
          </a:p>
          <a:p>
            <a:pPr marL="285750" indent="-285750">
              <a:lnSpc>
                <a:spcPts val="21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585858"/>
                </a:solidFill>
              </a:defRPr>
            </a:pPr>
            <a:r>
              <a:rPr dirty="0"/>
              <a:t>Tested on 100,000+ real Wikipedia articles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45720" cy="41148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8288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Background: MinHash &amp; Locality-Sensitive Hashing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Machine Learning for Big Data | IIT Jodhpur | M.Tech. DCS | March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2E75B6"/>
                </a:solidFill>
              </a:defRPr>
            </a:pPr>
            <a:r>
              <a:t>MinHash (Broder, 1997–98)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303520" cy="1922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959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585858"/>
                </a:solidFill>
              </a:defRPr>
            </a:pPr>
            <a:r>
              <a:rPr dirty="0"/>
              <a:t>Represent each document as a set of word tokens (shingles)</a:t>
            </a:r>
          </a:p>
          <a:p>
            <a:pPr marL="285750" indent="-285750">
              <a:lnSpc>
                <a:spcPts val="1959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585858"/>
                </a:solidFill>
              </a:defRPr>
            </a:pPr>
            <a:r>
              <a:rPr dirty="0"/>
              <a:t>Apply k random hash functions, keep minimum hash per function</a:t>
            </a:r>
          </a:p>
          <a:p>
            <a:pPr marL="285750" indent="-285750">
              <a:lnSpc>
                <a:spcPts val="1959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585858"/>
                </a:solidFill>
              </a:defRPr>
            </a:pPr>
            <a:r>
              <a:rPr dirty="0"/>
              <a:t>P(min h(A) = min h(B)) = Jaccard(A, B)</a:t>
            </a:r>
          </a:p>
          <a:p>
            <a:pPr marL="285750" indent="-285750">
              <a:lnSpc>
                <a:spcPts val="1959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585858"/>
                </a:solidFill>
              </a:defRPr>
            </a:pPr>
            <a:r>
              <a:rPr dirty="0"/>
              <a:t>k-dimensional signature per document — compact and fast to compare</a:t>
            </a:r>
          </a:p>
          <a:p>
            <a:pPr marL="285750" indent="-285750">
              <a:lnSpc>
                <a:spcPts val="1959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585858"/>
                </a:solidFill>
              </a:defRPr>
            </a:pPr>
            <a:r>
              <a:rPr dirty="0"/>
              <a:t>Estimate accuracy improves with more hash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2E75B6"/>
                </a:solidFill>
              </a:defRPr>
            </a:pPr>
            <a:r>
              <a:t>LSH (Indyk &amp; Motwani, 1998)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303520" cy="1665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959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585858"/>
                </a:solidFill>
              </a:defRPr>
            </a:pPr>
            <a:r>
              <a:rPr dirty="0"/>
              <a:t>Split k-length signature into b bands of r rows</a:t>
            </a:r>
          </a:p>
          <a:p>
            <a:pPr marL="285750" indent="-285750">
              <a:lnSpc>
                <a:spcPts val="1959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585858"/>
                </a:solidFill>
              </a:defRPr>
            </a:pPr>
            <a:r>
              <a:rPr dirty="0"/>
              <a:t>Two docs become candidates if they match in any one band</a:t>
            </a:r>
          </a:p>
          <a:p>
            <a:pPr marL="285750" indent="-285750">
              <a:lnSpc>
                <a:spcPts val="1959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585858"/>
                </a:solidFill>
              </a:defRPr>
            </a:pPr>
            <a:r>
              <a:rPr dirty="0"/>
              <a:t>Candidate probability: 1 - (1 - </a:t>
            </a:r>
            <a:r>
              <a:rPr dirty="0" err="1"/>
              <a:t>s^r</a:t>
            </a:r>
            <a:r>
              <a:rPr dirty="0"/>
              <a:t>)^b  (S-curve)</a:t>
            </a:r>
          </a:p>
          <a:p>
            <a:pPr marL="285750" indent="-285750">
              <a:lnSpc>
                <a:spcPts val="1959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585858"/>
                </a:solidFill>
              </a:defRPr>
            </a:pPr>
            <a:r>
              <a:rPr dirty="0"/>
              <a:t>Tune b and r to control precision-recall trade-off</a:t>
            </a:r>
          </a:p>
          <a:p>
            <a:pPr marL="285750" indent="-285750">
              <a:lnSpc>
                <a:spcPts val="1959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585858"/>
                </a:solidFill>
              </a:defRPr>
            </a:pPr>
            <a:r>
              <a:rPr dirty="0"/>
              <a:t>Sub-quadratic: only compare within shared buckets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10972800" cy="1371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  <a:defRPr sz="1400" b="1">
                <a:solidFill>
                  <a:srgbClr val="1B3A5C"/>
                </a:solidFill>
              </a:defRPr>
            </a:pPr>
            <a:r>
              <a:rPr dirty="0"/>
              <a:t>Key References</a:t>
            </a:r>
          </a:p>
          <a:p>
            <a:pPr marL="171450" indent="-171450" algn="ctr">
              <a:buFont typeface="Arial" panose="020B0604020202020204" pitchFamily="34" charset="0"/>
              <a:buChar char="•"/>
              <a:defRPr sz="1100">
                <a:solidFill>
                  <a:srgbClr val="585858"/>
                </a:solidFill>
              </a:defRPr>
            </a:pPr>
            <a:r>
              <a:rPr dirty="0"/>
              <a:t>Broder (1997) — Shingling &amp; Jaccard similarity</a:t>
            </a:r>
          </a:p>
          <a:p>
            <a:pPr marL="171450" indent="-171450" algn="ctr">
              <a:buFont typeface="Arial" panose="020B0604020202020204" pitchFamily="34" charset="0"/>
              <a:buChar char="•"/>
              <a:defRPr sz="1100">
                <a:solidFill>
                  <a:srgbClr val="585858"/>
                </a:solidFill>
              </a:defRPr>
            </a:pPr>
            <a:r>
              <a:rPr dirty="0"/>
              <a:t>Broder et al. (1998) — </a:t>
            </a:r>
            <a:r>
              <a:rPr dirty="0" err="1"/>
              <a:t>MinHash</a:t>
            </a:r>
            <a:r>
              <a:rPr dirty="0"/>
              <a:t> formalization</a:t>
            </a:r>
          </a:p>
          <a:p>
            <a:pPr marL="171450" indent="-171450" algn="ctr">
              <a:buFont typeface="Arial" panose="020B0604020202020204" pitchFamily="34" charset="0"/>
              <a:buChar char="•"/>
              <a:defRPr sz="1100">
                <a:solidFill>
                  <a:srgbClr val="585858"/>
                </a:solidFill>
              </a:defRPr>
            </a:pPr>
            <a:r>
              <a:rPr dirty="0"/>
              <a:t>Indyk &amp; Motwani (1998) — LSH framework</a:t>
            </a:r>
          </a:p>
          <a:p>
            <a:pPr marL="171450" indent="-171450" algn="ctr">
              <a:buFont typeface="Arial" panose="020B0604020202020204" pitchFamily="34" charset="0"/>
              <a:buChar char="•"/>
              <a:defRPr sz="1100">
                <a:solidFill>
                  <a:srgbClr val="585858"/>
                </a:solidFill>
              </a:defRPr>
            </a:pPr>
            <a:r>
              <a:rPr dirty="0"/>
              <a:t>Leskovec, Rajaraman, Ullman — Mining of Massive Datasets, Ch. 3</a:t>
            </a:r>
          </a:p>
          <a:p>
            <a:pPr marL="171450" indent="-171450" algn="ctr">
              <a:buFont typeface="Arial" panose="020B0604020202020204" pitchFamily="34" charset="0"/>
              <a:buChar char="•"/>
              <a:defRPr sz="1100">
                <a:solidFill>
                  <a:srgbClr val="585858"/>
                </a:solidFill>
              </a:defRPr>
            </a:pPr>
            <a:r>
              <a:rPr dirty="0"/>
              <a:t>Spark </a:t>
            </a:r>
            <a:r>
              <a:rPr dirty="0" err="1"/>
              <a:t>MLlib</a:t>
            </a:r>
            <a:r>
              <a:rPr dirty="0"/>
              <a:t> — Built-in </a:t>
            </a:r>
            <a:r>
              <a:rPr dirty="0" err="1"/>
              <a:t>MinHashLSH</a:t>
            </a:r>
            <a:r>
              <a:rPr dirty="0"/>
              <a:t> on </a:t>
            </a:r>
            <a:r>
              <a:rPr dirty="0" err="1"/>
              <a:t>DataFrames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8288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System Architecture &amp;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Machine Learning for Big Data | IIT Jodhpur | M.Tech. DCS | March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45920"/>
            <a:ext cx="1234440" cy="777240"/>
          </a:xfrm>
          <a:prstGeom prst="roundRect">
            <a:avLst/>
          </a:prstGeom>
          <a:solidFill>
            <a:srgbClr val="58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Wikipedia</a:t>
            </a:r>
            <a:br/>
            <a:r>
              <a:t>XML Dump</a:t>
            </a:r>
            <a:br/>
            <a:r>
              <a:t>(.bz2)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618488" y="1920240"/>
            <a:ext cx="146304" cy="228600"/>
          </a:xfrm>
          <a:prstGeom prst="rightArrow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783080" y="1645920"/>
            <a:ext cx="1234440" cy="77724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Spark XML</a:t>
            </a:r>
            <a:br/>
            <a:r>
              <a:t>Parser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35808" y="1920240"/>
            <a:ext cx="146304" cy="228600"/>
          </a:xfrm>
          <a:prstGeom prst="rightArrow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200400" y="1645920"/>
            <a:ext cx="1234440" cy="77724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Article</a:t>
            </a:r>
            <a:br/>
            <a:r>
              <a:t>Normalisation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453127" y="1920240"/>
            <a:ext cx="146304" cy="228600"/>
          </a:xfrm>
          <a:prstGeom prst="rightArrow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617720" y="1645920"/>
            <a:ext cx="1234440" cy="77724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Tokenisation</a:t>
            </a:r>
            <a:br/>
            <a:r>
              <a:t>+ HashingTF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70448" y="1920240"/>
            <a:ext cx="146304" cy="228600"/>
          </a:xfrm>
          <a:prstGeom prst="rightArrow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035040" y="1645920"/>
            <a:ext cx="1234440" cy="7772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MinHash LSH</a:t>
            </a:r>
            <a:br/>
            <a:r>
              <a:t>Fit + Transform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287768" y="1920240"/>
            <a:ext cx="146304" cy="228600"/>
          </a:xfrm>
          <a:prstGeom prst="rightArrow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452360" y="1645920"/>
            <a:ext cx="1234440" cy="7772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Self-Join</a:t>
            </a:r>
            <a:br/>
            <a:r>
              <a:t>on Buckets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705088" y="1920240"/>
            <a:ext cx="146304" cy="228600"/>
          </a:xfrm>
          <a:prstGeom prst="rightArrow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869680" y="1645920"/>
            <a:ext cx="1234440" cy="7772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Distance</a:t>
            </a:r>
            <a:br/>
            <a:r>
              <a:t>Filtering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0122408" y="1920240"/>
            <a:ext cx="146304" cy="228600"/>
          </a:xfrm>
          <a:prstGeom prst="rightArrow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287000" y="1645920"/>
            <a:ext cx="1234440" cy="7772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Output</a:t>
            </a:r>
            <a:br/>
            <a:r>
              <a:t>Parquet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1B3A5C"/>
                </a:solidFill>
              </a:defRPr>
            </a:pPr>
            <a:r>
              <a:t>Codebase Modules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91840"/>
            <a:ext cx="502920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3101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1">
                <a:solidFill>
                  <a:srgbClr val="2E75B6"/>
                </a:solidFill>
              </a:defRPr>
            </a:pPr>
            <a:r>
              <a:t>ingest.py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3101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585858"/>
                </a:solidFill>
              </a:defRPr>
            </a:pPr>
            <a:r>
              <a:t>XML parsing, filtering, sampling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639312"/>
            <a:ext cx="50292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657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1">
                <a:solidFill>
                  <a:srgbClr val="2E75B6"/>
                </a:solidFill>
              </a:defRPr>
            </a:pPr>
            <a:r>
              <a:t>features.py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585858"/>
                </a:solidFill>
              </a:defRPr>
            </a:pPr>
            <a:r>
              <a:t>RegexTokenizer + binary HashingTF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86784"/>
            <a:ext cx="502920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40050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1">
                <a:solidFill>
                  <a:srgbClr val="2E75B6"/>
                </a:solidFill>
              </a:defRPr>
            </a:pPr>
            <a:r>
              <a:t>lsh_pipeline.py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0050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585858"/>
                </a:solidFill>
              </a:defRPr>
            </a:pPr>
            <a:r>
              <a:t>MinHashLSH model + self-join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334256"/>
            <a:ext cx="50292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435254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1">
                <a:solidFill>
                  <a:srgbClr val="2E75B6"/>
                </a:solidFill>
              </a:defRPr>
            </a:pPr>
            <a:r>
              <a:t>evaluate.py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3525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585858"/>
                </a:solidFill>
              </a:defRPr>
            </a:pPr>
            <a:r>
              <a:t>Scaling study + accuracy metrics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81728"/>
            <a:ext cx="502920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47000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1">
                <a:solidFill>
                  <a:srgbClr val="2E75B6"/>
                </a:solidFill>
              </a:defRPr>
            </a:pPr>
            <a:r>
              <a:t>jaccard_utils.py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7000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585858"/>
                </a:solidFill>
              </a:defRPr>
            </a:pPr>
            <a:r>
              <a:t>Pure-Python Jaccard helpers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029200"/>
            <a:ext cx="50292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50474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1">
                <a:solidFill>
                  <a:srgbClr val="2E75B6"/>
                </a:solidFill>
              </a:defRPr>
            </a:pPr>
            <a:r>
              <a:t>config.py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50474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585858"/>
                </a:solidFill>
              </a:defRPr>
            </a:pPr>
            <a:r>
              <a:t>Default hyperparameters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376672"/>
            <a:ext cx="502920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5394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1">
                <a:solidFill>
                  <a:srgbClr val="2E75B6"/>
                </a:solidFill>
              </a:defRPr>
            </a:pPr>
            <a:r>
              <a:t>run_pipeline.py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5394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585858"/>
                </a:solidFill>
              </a:defRPr>
            </a:pPr>
            <a:r>
              <a:t>CLI entry point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724144"/>
            <a:ext cx="50292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574243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1">
                <a:solidFill>
                  <a:srgbClr val="2E75B6"/>
                </a:solidFill>
              </a:defRPr>
            </a:pPr>
            <a:r>
              <a:t>app.py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86000" y="574243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585858"/>
                </a:solidFill>
              </a:defRPr>
            </a:pPr>
            <a:r>
              <a:t>Streamlit web UI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1B3A5C"/>
                </a:solidFill>
              </a:defRPr>
            </a:pPr>
            <a:r>
              <a:t>Tech Stack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291840"/>
            <a:ext cx="5029200" cy="2463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Python 3.10 – 3.12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Apache Spark 3.4 – 3.5 (</a:t>
            </a:r>
            <a:r>
              <a:rPr dirty="0" err="1"/>
              <a:t>PySpark</a:t>
            </a:r>
            <a:r>
              <a:rPr dirty="0"/>
              <a:t>)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Spark </a:t>
            </a:r>
            <a:r>
              <a:rPr dirty="0" err="1"/>
              <a:t>MLlib</a:t>
            </a:r>
            <a:r>
              <a:rPr dirty="0"/>
              <a:t> (</a:t>
            </a:r>
            <a:r>
              <a:rPr dirty="0" err="1"/>
              <a:t>MinHashLSH</a:t>
            </a:r>
            <a:r>
              <a:rPr dirty="0"/>
              <a:t>)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spark-xml for </a:t>
            </a:r>
            <a:r>
              <a:rPr dirty="0" err="1"/>
              <a:t>MediaWiki</a:t>
            </a:r>
            <a:r>
              <a:rPr dirty="0"/>
              <a:t> XML parsing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 err="1"/>
              <a:t>Streamlit</a:t>
            </a:r>
            <a:r>
              <a:rPr dirty="0"/>
              <a:t> for web UI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Parquet + Snappy for output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 err="1"/>
              <a:t>pytest</a:t>
            </a:r>
            <a:r>
              <a:rPr dirty="0"/>
              <a:t> for unit &amp; integration tests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Git + GitHub for version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8288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Machine Learning for Big Data | IIT Jodhpur | M.Tech. DCS | March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400"/>
              </a:spcAft>
              <a:defRPr sz="1700" b="1">
                <a:solidFill>
                  <a:srgbClr val="2E75B6"/>
                </a:solidFill>
              </a:defRPr>
            </a:pPr>
            <a:r>
              <a:t>1. Data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3474720" cy="123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spark-xml reads </a:t>
            </a:r>
            <a:r>
              <a:rPr dirty="0" err="1"/>
              <a:t>MediaWiki</a:t>
            </a:r>
            <a:r>
              <a:rPr dirty="0"/>
              <a:t> XML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Filter: namespace 0, drop redirects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Remove articles &lt; 50 chars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Sampling with seed 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400"/>
              </a:spcAft>
              <a:defRPr sz="1700" b="1">
                <a:solidFill>
                  <a:srgbClr val="2E75B6"/>
                </a:solidFill>
              </a:defRPr>
            </a:pPr>
            <a:r>
              <a:t>2. Feature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920240"/>
            <a:ext cx="3474720" cy="123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 err="1"/>
              <a:t>RegexTokenizer</a:t>
            </a:r>
            <a:r>
              <a:rPr dirty="0"/>
              <a:t> (\W+, lowercase)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 err="1"/>
              <a:t>HashingTF</a:t>
            </a:r>
            <a:r>
              <a:rPr dirty="0"/>
              <a:t> binary mode, 2^18 dims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Output: sparse 0/1 feature vectors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Jaccard-ready set representation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400"/>
              </a:spcAft>
              <a:defRPr sz="1700" b="1">
                <a:solidFill>
                  <a:srgbClr val="2E75B6"/>
                </a:solidFill>
              </a:defRPr>
            </a:pPr>
            <a:r>
              <a:t>3. MinHash LSH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920240"/>
            <a:ext cx="3657600" cy="123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5 hash tables (bands)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Compact signature per document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 err="1"/>
              <a:t>approxSimilarityJoin</a:t>
            </a:r>
            <a:r>
              <a:rPr dirty="0"/>
              <a:t> (threshold 0.3)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Filter: </a:t>
            </a:r>
            <a:r>
              <a:rPr dirty="0" err="1"/>
              <a:t>page_id_a</a:t>
            </a:r>
            <a:r>
              <a:rPr dirty="0"/>
              <a:t> &lt; </a:t>
            </a:r>
            <a:r>
              <a:rPr dirty="0" err="1"/>
              <a:t>page_id_b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400"/>
              </a:spcAft>
              <a:defRPr sz="1700" b="1">
                <a:solidFill>
                  <a:srgbClr val="1B3A5C"/>
                </a:solidFill>
              </a:defRPr>
            </a:pPr>
            <a:r>
              <a:t>Default Hyperparameters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114800"/>
            <a:ext cx="109728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1239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Parameter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1239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12394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Purpose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407408"/>
            <a:ext cx="109728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4165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400"/>
              </a:spcAft>
              <a:defRPr sz="1000" b="0">
                <a:solidFill>
                  <a:srgbClr val="000000"/>
                </a:solidFill>
              </a:defRPr>
            </a:pPr>
            <a:r>
              <a:t>num_features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41655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400"/>
              </a:spcAft>
              <a:defRPr sz="1000" b="0">
                <a:solidFill>
                  <a:srgbClr val="000000"/>
                </a:solidFill>
              </a:defRPr>
            </a:pPr>
            <a:r>
              <a:t>2^18 (262,144)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41655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400"/>
              </a:spcAft>
              <a:defRPr sz="1000" b="0">
                <a:solidFill>
                  <a:srgbClr val="000000"/>
                </a:solidFill>
              </a:defRPr>
            </a:pPr>
            <a:r>
              <a:t>HashingTF vector dimensions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00016"/>
            <a:ext cx="109728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70915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400"/>
              </a:spcAft>
              <a:defRPr sz="1000" b="0">
                <a:solidFill>
                  <a:srgbClr val="000000"/>
                </a:solidFill>
              </a:defRPr>
            </a:pPr>
            <a:r>
              <a:t>num_hash_tables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70915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400"/>
              </a:spcAft>
              <a:defRPr sz="1000" b="0">
                <a:solidFill>
                  <a:srgbClr val="000000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709159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400"/>
              </a:spcAft>
              <a:defRPr sz="1000" b="0">
                <a:solidFill>
                  <a:srgbClr val="000000"/>
                </a:solidFill>
              </a:defRPr>
            </a:pPr>
            <a:r>
              <a:t>LSH bands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992624"/>
            <a:ext cx="109728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0017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400"/>
              </a:spcAft>
              <a:defRPr sz="1000" b="0">
                <a:solidFill>
                  <a:srgbClr val="000000"/>
                </a:solidFill>
              </a:defRPr>
            </a:pPr>
            <a:r>
              <a:t>jaccard_distance_threshold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0017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400"/>
              </a:spcAft>
              <a:defRPr sz="1000" b="0">
                <a:solidFill>
                  <a:srgbClr val="000000"/>
                </a:solidFill>
              </a:defRPr>
            </a:pPr>
            <a:r>
              <a:t>0.3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00176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400"/>
              </a:spcAft>
              <a:defRPr sz="1000" b="0">
                <a:solidFill>
                  <a:srgbClr val="000000"/>
                </a:solidFill>
              </a:defRPr>
            </a:pPr>
            <a:r>
              <a:t>Max distance for candidates (sim &gt;= 0.7)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285232"/>
            <a:ext cx="109728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2943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400"/>
              </a:spcAft>
              <a:defRPr sz="1000" b="0">
                <a:solidFill>
                  <a:srgbClr val="000000"/>
                </a:solidFill>
              </a:defRPr>
            </a:pPr>
            <a:r>
              <a:t>min_token_length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2943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400"/>
              </a:spcAft>
              <a:defRPr sz="1000" b="0">
                <a:solidFill>
                  <a:srgbClr val="000000"/>
                </a:solidFill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29437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400"/>
              </a:spcAft>
              <a:defRPr sz="1000" b="0">
                <a:solidFill>
                  <a:srgbClr val="000000"/>
                </a:solidFill>
              </a:defRPr>
            </a:pPr>
            <a:r>
              <a:t>Drop short tokens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577840"/>
            <a:ext cx="109728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5586983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400"/>
              </a:spcAft>
              <a:defRPr sz="1000" b="0">
                <a:solidFill>
                  <a:srgbClr val="000000"/>
                </a:solidFill>
              </a:defRPr>
            </a:pPr>
            <a:r>
              <a:t>sample_seed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558698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400"/>
              </a:spcAft>
              <a:defRPr sz="1000" b="0">
                <a:solidFill>
                  <a:srgbClr val="000000"/>
                </a:solidFill>
              </a:defRPr>
            </a:pPr>
            <a:r>
              <a:t>42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586983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400"/>
              </a:spcAft>
              <a:defRPr sz="1000" b="0">
                <a:solidFill>
                  <a:srgbClr val="000000"/>
                </a:solidFill>
              </a:defRPr>
            </a:pPr>
            <a:r>
              <a:t>Reproducible sampling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870448"/>
            <a:ext cx="109728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58795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400"/>
              </a:spcAft>
              <a:defRPr sz="1000" b="0">
                <a:solidFill>
                  <a:srgbClr val="000000"/>
                </a:solidFill>
              </a:defRPr>
            </a:pPr>
            <a:r>
              <a:t>max_docs_bruteforce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58795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400"/>
              </a:spcAft>
              <a:defRPr sz="1000" b="0">
                <a:solidFill>
                  <a:srgbClr val="000000"/>
                </a:solidFill>
              </a:defRPr>
            </a:pPr>
            <a:r>
              <a:t>400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87959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400"/>
              </a:spcAft>
              <a:defRPr sz="1000" b="0">
                <a:solidFill>
                  <a:srgbClr val="000000"/>
                </a:solidFill>
              </a:defRPr>
            </a:pPr>
            <a:r>
              <a:t>Accuracy eval sample cap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8288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Dataset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Machine Learning for Big Data | IIT Jodhpur | M.Tech. DCS | March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194560" cy="146304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380 MB</a:t>
            </a:r>
          </a:p>
          <a:p>
            <a:pPr algn="ctr">
              <a:defRPr sz="1300">
                <a:solidFill>
                  <a:srgbClr val="DDDDFF"/>
                </a:solidFill>
              </a:defRPr>
            </a:pPr>
            <a:r>
              <a:t>Compressed Size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645920"/>
            <a:ext cx="2194560" cy="1463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100K+</a:t>
            </a:r>
          </a:p>
          <a:p>
            <a:pPr algn="ctr">
              <a:defRPr sz="1300">
                <a:solidFill>
                  <a:srgbClr val="DDDDFF"/>
                </a:solidFill>
              </a:defRPr>
            </a:pPr>
            <a:r>
              <a:t>Articles After Filtering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645920"/>
            <a:ext cx="2194560" cy="14630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41K–152K</a:t>
            </a:r>
          </a:p>
          <a:p>
            <a:pPr algn="ctr">
              <a:defRPr sz="1300">
                <a:solidFill>
                  <a:srgbClr val="DDDDFF"/>
                </a:solidFill>
              </a:defRPr>
            </a:pPr>
            <a:r>
              <a:t>Page ID Range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645920"/>
            <a:ext cx="2194560" cy="14630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March 2026</a:t>
            </a:r>
          </a:p>
          <a:p>
            <a:pPr algn="ctr">
              <a:defRPr sz="1300">
                <a:solidFill>
                  <a:srgbClr val="DDDDFF"/>
                </a:solidFill>
              </a:defRPr>
            </a:pPr>
            <a:r>
              <a:t>Dump 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1B3A5C"/>
                </a:solidFill>
              </a:defRPr>
            </a:pPr>
            <a:r>
              <a:t>Source &amp;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10972800" cy="1999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959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585858"/>
                </a:solidFill>
              </a:defRPr>
            </a:pPr>
            <a:r>
              <a:rPr dirty="0"/>
              <a:t>File: enwiki-20260301-pages-articles-multistream2.xml-p41243p151573.bz2</a:t>
            </a:r>
          </a:p>
          <a:p>
            <a:pPr marL="285750" indent="-285750">
              <a:lnSpc>
                <a:spcPts val="1959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585858"/>
                </a:solidFill>
              </a:defRPr>
            </a:pPr>
            <a:r>
              <a:rPr dirty="0"/>
              <a:t>Source: Wikimedia Foundation dumps (dumps.wikimedia.org)</a:t>
            </a:r>
          </a:p>
          <a:p>
            <a:pPr marL="285750" indent="-285750">
              <a:lnSpc>
                <a:spcPts val="1959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585858"/>
                </a:solidFill>
              </a:defRPr>
            </a:pPr>
            <a:r>
              <a:rPr dirty="0"/>
              <a:t>Format: </a:t>
            </a:r>
            <a:r>
              <a:rPr dirty="0" err="1"/>
              <a:t>MediaWiki</a:t>
            </a:r>
            <a:r>
              <a:rPr dirty="0"/>
              <a:t> XML inside bzip2 compression</a:t>
            </a:r>
          </a:p>
          <a:p>
            <a:pPr marL="285750" indent="-285750">
              <a:lnSpc>
                <a:spcPts val="1959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585858"/>
                </a:solidFill>
              </a:defRPr>
            </a:pPr>
            <a:r>
              <a:rPr dirty="0"/>
              <a:t>Filtering: namespace 0 only, drop redirects, drop articles &lt; 50 chars</a:t>
            </a:r>
          </a:p>
          <a:p>
            <a:pPr marL="285750" indent="-285750">
              <a:lnSpc>
                <a:spcPts val="1959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585858"/>
                </a:solidFill>
              </a:defRPr>
            </a:pPr>
            <a:r>
              <a:rPr dirty="0"/>
              <a:t>Schema: </a:t>
            </a:r>
            <a:r>
              <a:rPr dirty="0" err="1"/>
              <a:t>page_id</a:t>
            </a:r>
            <a:r>
              <a:rPr dirty="0"/>
              <a:t> (long), title (string), text (string)</a:t>
            </a:r>
          </a:p>
          <a:p>
            <a:pPr marL="285750" indent="-285750">
              <a:lnSpc>
                <a:spcPts val="1959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585858"/>
                </a:solidFill>
              </a:defRPr>
            </a:pPr>
            <a:r>
              <a:rPr dirty="0"/>
              <a:t>One shard chosen for laptop feasibility — same code works on full dump via HDFS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8288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Results: Scalability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Machine Learning for Big Data | IIT Jodhpur | M.Tech. DCS | March 2026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463040"/>
          <a:ext cx="6858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14630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1B3A5C"/>
                </a:solidFill>
              </a:defRPr>
            </a:pPr>
            <a:r>
              <a:t>Key Observations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011680"/>
            <a:ext cx="3931920" cy="3233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Ingestion &amp; </a:t>
            </a:r>
            <a:r>
              <a:rPr dirty="0" err="1"/>
              <a:t>featurisation</a:t>
            </a:r>
            <a:r>
              <a:rPr dirty="0"/>
              <a:t> scale near-linearly with document count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Both are per-document operations with no cross-document dependency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LSH self-join grows slightly super-linear due to increasing candidate pairs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But still far below O(n^2) quadratic growth of brute-force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Throughput: ~1000–3000 articles/min on a multi-core laptop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Main bottleneck: single-threaded bzip2 decompression (goes away on HDFS)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8288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Results: Accuracy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Machine Learning for Big Data | IIT Jodhpur | M.Tech. DCS | March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194560" cy="1463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1.0</a:t>
            </a:r>
          </a:p>
          <a:p>
            <a:pPr algn="ctr">
              <a:defRPr sz="1300">
                <a:solidFill>
                  <a:srgbClr val="DDDDFF"/>
                </a:solidFill>
              </a:defRPr>
            </a:pPr>
            <a:r>
              <a:t>Precision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645920"/>
            <a:ext cx="2194560" cy="1463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1.0</a:t>
            </a:r>
          </a:p>
          <a:p>
            <a:pPr algn="ctr">
              <a:defRPr sz="1300">
                <a:solidFill>
                  <a:srgbClr val="DDDDFF"/>
                </a:solidFill>
              </a:defRPr>
            </a:pPr>
            <a:r>
              <a:t>Recall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645920"/>
            <a:ext cx="2194560" cy="1463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1.0</a:t>
            </a:r>
          </a:p>
          <a:p>
            <a:pPr algn="ctr">
              <a:defRPr sz="1300">
                <a:solidFill>
                  <a:srgbClr val="DDDDFF"/>
                </a:solidFill>
              </a:defRPr>
            </a:pPr>
            <a:r>
              <a:t>F1 Score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645920"/>
            <a:ext cx="2194560" cy="146304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825</a:t>
            </a:r>
          </a:p>
          <a:p>
            <a:pPr algn="ctr">
              <a:defRPr sz="1300">
                <a:solidFill>
                  <a:srgbClr val="DDDDFF"/>
                </a:solidFill>
              </a:defRPr>
            </a:pPr>
            <a:r>
              <a:t>Docs in Sample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3474720"/>
          <a:ext cx="5029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3474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1B3A5C"/>
                </a:solidFill>
              </a:defRPr>
            </a:pPr>
            <a:r>
              <a:t>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931920"/>
            <a:ext cx="5303520" cy="2079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Brute-force ground truth found 19 near-duplicate pairs in 825-doc sample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LSH with 5 hash tables, threshold 0.3 found exactly the same 19 pairs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Zero false positives, zero false negatives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Confirms theory: sufficient hash tables yield near-exact recall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Errors (if any) concentrate at the threshold boundary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Settings: Jaccard distance &lt;= 0.3 (similarity &gt;= 0.7)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8288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Interactive Web UI (Streamlit)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Machine Learning for Big Data | IIT Jodhpur | M.Tech. DCS | March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474720" cy="18288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2E75B6"/>
                </a:solidFill>
              </a:defRPr>
            </a:pPr>
            <a:r>
              <a:t>Run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108960" cy="697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156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200" b="0">
                <a:solidFill>
                  <a:srgbClr val="585858"/>
                </a:solidFill>
              </a:defRPr>
            </a:pPr>
            <a:r>
              <a:rPr dirty="0"/>
              <a:t>Upload/select Wikipedia XML, configure </a:t>
            </a:r>
            <a:r>
              <a:rPr dirty="0" err="1"/>
              <a:t>params,run</a:t>
            </a:r>
            <a:r>
              <a:rPr dirty="0"/>
              <a:t> Spark pipeline, view &amp; download results as 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74720" cy="18288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2E75B6"/>
                </a:solidFill>
              </a:defRPr>
            </a:pPr>
            <a:r>
              <a:t>Jaccard Calculator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3108960" cy="492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156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200" b="0">
                <a:solidFill>
                  <a:srgbClr val="585858"/>
                </a:solidFill>
              </a:defRPr>
            </a:pPr>
            <a:r>
              <a:rPr dirty="0"/>
              <a:t>Enter two word sets, instantly see</a:t>
            </a:r>
            <a:br>
              <a:rPr dirty="0"/>
            </a:br>
            <a:r>
              <a:rPr dirty="0"/>
              <a:t>Jaccard similarity and distance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74720" cy="18288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1783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2E75B6"/>
                </a:solidFill>
              </a:defRPr>
            </a:pPr>
            <a:r>
              <a:t>Text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194560"/>
            <a:ext cx="3108960" cy="492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156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200" b="0">
                <a:solidFill>
                  <a:srgbClr val="585858"/>
                </a:solidFill>
              </a:defRPr>
            </a:pPr>
            <a:r>
              <a:rPr dirty="0"/>
              <a:t>Paste 2-10 documents, find near-duplicate</a:t>
            </a:r>
            <a:br>
              <a:rPr dirty="0"/>
            </a:br>
            <a:r>
              <a:rPr dirty="0"/>
              <a:t>pairs via brute-force Jaccard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98975" y="3703320"/>
            <a:ext cx="3474720" cy="18288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81855" y="4039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2E75B6"/>
                </a:solidFill>
              </a:defRPr>
            </a:pPr>
            <a:r>
              <a:rPr dirty="0"/>
              <a:t>View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6795" y="4458231"/>
            <a:ext cx="3108960" cy="492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156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200" b="0">
                <a:solidFill>
                  <a:srgbClr val="585858"/>
                </a:solidFill>
              </a:defRPr>
            </a:pPr>
            <a:r>
              <a:rPr dirty="0"/>
              <a:t>Load metrics JSON from previous runs,</a:t>
            </a:r>
            <a:br>
              <a:rPr dirty="0"/>
            </a:br>
            <a:r>
              <a:rPr dirty="0"/>
              <a:t>view accuracy or scaling study charts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31282" y="3783898"/>
            <a:ext cx="3474720" cy="18288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14162" y="407811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2E75B6"/>
                </a:solidFill>
              </a:defRPr>
            </a:pPr>
            <a:r>
              <a:rPr dirty="0"/>
              <a:t>About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390" y="4493850"/>
            <a:ext cx="3108960" cy="492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156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200" b="0">
                <a:solidFill>
                  <a:srgbClr val="585858"/>
                </a:solidFill>
              </a:defRPr>
            </a:pPr>
            <a:r>
              <a:rPr dirty="0"/>
              <a:t>Project info, default parameters,</a:t>
            </a:r>
            <a:br>
              <a:rPr dirty="0"/>
            </a:br>
            <a:r>
              <a:rPr dirty="0"/>
              <a:t>and tech stack documentation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400"/>
              </a:spcAft>
              <a:defRPr sz="1300" b="1">
                <a:solidFill>
                  <a:srgbClr val="1B3A5C"/>
                </a:solidFill>
              </a:defRPr>
            </a:pPr>
            <a:r>
              <a:t>Run:  streamlit run app.py     |     Opens at http://localhost:8501     |     Upload limit: 1 GB     |     Pipeline timeout: 1 hour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8288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Testing Strategy &amp; Reproducibility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Machine Learning for Big Data | IIT Jodhpur | M.Tech. DCS | March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303520" cy="25603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27AE60"/>
                </a:solidFill>
              </a:defRPr>
            </a:pPr>
            <a:r>
              <a:t>Unit Tests (test_evaluate_pure.py)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937760" cy="1848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Pure Python — no Spark dependency needed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Jaccard(identical sets) = 1.0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Jaccard(disjoint sets) = 0.0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Brute-force finder catches close pairs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Precision/Recall/F1 correct for known TP/FP/FN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Runs in &lt; 1 second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303520" cy="25603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2E75B6"/>
                </a:solidFill>
              </a:defRPr>
            </a:pPr>
            <a:r>
              <a:t>Integration Tests (test_spark_smoke.py)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937760" cy="154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Full Spark pipeline on 3-article XML fixture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2 similar articles + 1 redirect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Verifies parsing, redirect removal, LSH pair finding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Gated behind RUN_SPARK_INTEGRATION env var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Downloads spark-xml JAR on first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1B3A5C"/>
                </a:solidFill>
              </a:defRPr>
            </a:pPr>
            <a:r>
              <a:t>How to Reproduce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10972800" cy="123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Prerequisites: Python 3.10–3.12, Java 11/17, internet (for spark-xml JAR)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git clone https://github.com/Yoursuperherobasu/BigData_Project_Machine_Learning-_for_Big_Data.git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/>
              <a:t>python3.12 -m </a:t>
            </a:r>
            <a:r>
              <a:rPr dirty="0" err="1"/>
              <a:t>venv</a:t>
            </a:r>
            <a:r>
              <a:rPr dirty="0"/>
              <a:t> .</a:t>
            </a:r>
            <a:r>
              <a:rPr dirty="0" err="1"/>
              <a:t>venv</a:t>
            </a:r>
            <a:r>
              <a:rPr dirty="0"/>
              <a:t>  &amp;&amp;  source .</a:t>
            </a:r>
            <a:r>
              <a:rPr dirty="0" err="1"/>
              <a:t>venv</a:t>
            </a:r>
            <a:r>
              <a:rPr dirty="0"/>
              <a:t>/bin/activate  &amp;&amp;  pip install -r requirements.txt</a:t>
            </a:r>
          </a:p>
          <a:p>
            <a:pPr marL="285750" indent="-285750">
              <a:lnSpc>
                <a:spcPts val="182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585858"/>
                </a:solidFill>
              </a:defRPr>
            </a:pPr>
            <a:r>
              <a:rPr dirty="0" err="1"/>
              <a:t>streamlit</a:t>
            </a:r>
            <a:r>
              <a:rPr dirty="0"/>
              <a:t> run app.py  (Web UI)   or   ./scripts/spark_submit.sh --input file:///path/to/dump.xml.bz2  (CLI)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8288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Challenges &amp; Lessons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Machine Learning for Big Data | IIT Jodhpur | M.Tech. DCS | March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3035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09728" cy="2011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69163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2E75B6"/>
                </a:solidFill>
              </a:defRPr>
            </a:pPr>
            <a:r>
              <a:t>XML Schema Variation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48840"/>
            <a:ext cx="4754880" cy="735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169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 b="0">
                <a:solidFill>
                  <a:srgbClr val="585858"/>
                </a:solidFill>
              </a:defRPr>
            </a:pPr>
            <a:r>
              <a:rPr dirty="0"/>
              <a:t>Revision element appears as Struct or Array depending on dump version. Solution: runtime schema inspection in ingest module.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554480"/>
            <a:ext cx="53035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09359" y="1554480"/>
            <a:ext cx="109728" cy="2011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79" y="169163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C0392B"/>
                </a:solidFill>
              </a:defRPr>
            </a:pPr>
            <a:r>
              <a:t>Python 3.13 + PySpark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9" y="2148840"/>
            <a:ext cx="4754880" cy="517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169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 b="0">
                <a:solidFill>
                  <a:srgbClr val="585858"/>
                </a:solidFill>
              </a:defRPr>
            </a:pPr>
            <a:r>
              <a:rPr dirty="0" err="1"/>
              <a:t>distutils</a:t>
            </a:r>
            <a:r>
              <a:rPr dirty="0"/>
              <a:t> removed in Python 3.13 but </a:t>
            </a:r>
            <a:r>
              <a:rPr dirty="0" err="1"/>
              <a:t>PySpark</a:t>
            </a:r>
            <a:r>
              <a:rPr dirty="0"/>
              <a:t> 3.5 needs it. Caused cryptic JVM errors. Fix: pin to Python 3.12 + </a:t>
            </a:r>
            <a:r>
              <a:rPr dirty="0" err="1"/>
              <a:t>setuptools</a:t>
            </a:r>
            <a:r>
              <a:rPr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3035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931920"/>
            <a:ext cx="109728" cy="20116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4069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E67E22"/>
                </a:solidFill>
              </a:defRPr>
            </a:pPr>
            <a:r>
              <a:t>Memory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526280"/>
            <a:ext cx="4754880" cy="735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169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 b="0">
                <a:solidFill>
                  <a:srgbClr val="585858"/>
                </a:solidFill>
              </a:defRPr>
            </a:pPr>
            <a:r>
              <a:rPr dirty="0"/>
              <a:t>Spark recomputes </a:t>
            </a:r>
            <a:r>
              <a:rPr dirty="0" err="1"/>
              <a:t>uncached</a:t>
            </a:r>
            <a:r>
              <a:rPr dirty="0"/>
              <a:t> </a:t>
            </a:r>
            <a:r>
              <a:rPr dirty="0" err="1"/>
              <a:t>DataFrames</a:t>
            </a:r>
            <a:r>
              <a:rPr dirty="0"/>
              <a:t>, causing OOM crashes. Fix: cache-count-</a:t>
            </a:r>
            <a:r>
              <a:rPr dirty="0" err="1"/>
              <a:t>unpersist</a:t>
            </a:r>
            <a:r>
              <a:rPr dirty="0"/>
              <a:t> pattern after each expensive stage.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931920"/>
            <a:ext cx="53035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8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59" y="3931920"/>
            <a:ext cx="109728" cy="2011680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79" y="4069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585858"/>
                </a:solidFill>
              </a:defRPr>
            </a:pPr>
            <a:r>
              <a:t>GitHub File Limits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4526280"/>
            <a:ext cx="4754880" cy="517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169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 b="0">
                <a:solidFill>
                  <a:srgbClr val="585858"/>
                </a:solidFill>
              </a:defRPr>
            </a:pPr>
            <a:r>
              <a:rPr dirty="0"/>
              <a:t>380 MB dataset exceeds 100 MB GitHub limit. Solution: exclude from repo, document download URL in README.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8288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Conclusion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Machine Learning for Big Data | IIT Jodhpur | M.Tech. DCS | March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400"/>
              </a:spcAft>
              <a:defRPr sz="2000" b="1">
                <a:solidFill>
                  <a:srgbClr val="1B3A5C"/>
                </a:solidFill>
              </a:defRPr>
            </a:pPr>
            <a:r>
              <a:t>What We Achieved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486400" cy="2691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1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585858"/>
                </a:solidFill>
              </a:defRPr>
            </a:pPr>
            <a:r>
              <a:rPr dirty="0"/>
              <a:t>Built a working distributed pipeline for Wikipedia near-duplicate detection</a:t>
            </a:r>
          </a:p>
          <a:p>
            <a:pPr marL="285750" indent="-285750">
              <a:lnSpc>
                <a:spcPts val="21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585858"/>
                </a:solidFill>
              </a:defRPr>
            </a:pPr>
            <a:r>
              <a:rPr dirty="0" err="1"/>
              <a:t>MinHash</a:t>
            </a:r>
            <a:r>
              <a:rPr dirty="0"/>
              <a:t> LSH brings candidate generation well below O(n^2)</a:t>
            </a:r>
          </a:p>
          <a:p>
            <a:pPr marL="285750" indent="-285750">
              <a:lnSpc>
                <a:spcPts val="21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585858"/>
                </a:solidFill>
              </a:defRPr>
            </a:pPr>
            <a:r>
              <a:rPr dirty="0"/>
              <a:t>Per-document stages scale linearly; LSH join stays sub-quadratic</a:t>
            </a:r>
          </a:p>
          <a:p>
            <a:pPr marL="285750" indent="-285750">
              <a:lnSpc>
                <a:spcPts val="21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585858"/>
                </a:solidFill>
              </a:defRPr>
            </a:pPr>
            <a:r>
              <a:rPr dirty="0"/>
              <a:t>Accuracy: Precision 1.0, Recall 1.0, F1 1.0 on 825-doc sample</a:t>
            </a:r>
          </a:p>
          <a:p>
            <a:pPr marL="285750" indent="-285750">
              <a:lnSpc>
                <a:spcPts val="21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585858"/>
                </a:solidFill>
              </a:defRPr>
            </a:pPr>
            <a:r>
              <a:rPr dirty="0"/>
              <a:t>Modular codebase with unit + integration tests</a:t>
            </a:r>
          </a:p>
          <a:p>
            <a:pPr marL="285750" indent="-285750">
              <a:lnSpc>
                <a:spcPts val="21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585858"/>
                </a:solidFill>
              </a:defRPr>
            </a:pPr>
            <a:r>
              <a:rPr dirty="0" err="1"/>
              <a:t>Streamlit</a:t>
            </a:r>
            <a:r>
              <a:rPr dirty="0"/>
              <a:t> web UI for interactive exploration</a:t>
            </a:r>
          </a:p>
          <a:p>
            <a:pPr marL="285750" indent="-285750">
              <a:lnSpc>
                <a:spcPts val="21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585858"/>
                </a:solidFill>
              </a:defRPr>
            </a:pPr>
            <a:r>
              <a:rPr dirty="0"/>
              <a:t>Fully reproducible — clone, install,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400"/>
              </a:spcAft>
              <a:defRPr sz="2000" b="1">
                <a:solidFill>
                  <a:srgbClr val="1B3A5C"/>
                </a:solidFill>
              </a:defRPr>
            </a:pPr>
            <a:r>
              <a:t>Future Directions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5029200" cy="3076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1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585858"/>
                </a:solidFill>
              </a:defRPr>
            </a:pPr>
            <a:r>
              <a:rPr dirty="0"/>
              <a:t>Scale to full Wikipedia dump on HDFS cluster (millions of articles)</a:t>
            </a:r>
          </a:p>
          <a:p>
            <a:pPr marL="285750" indent="-285750">
              <a:lnSpc>
                <a:spcPts val="21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585858"/>
                </a:solidFill>
              </a:defRPr>
            </a:pPr>
            <a:r>
              <a:rPr dirty="0"/>
              <a:t>Character-level n-gram shingles for catching minor-edit duplicates</a:t>
            </a:r>
          </a:p>
          <a:p>
            <a:pPr marL="285750" indent="-285750">
              <a:lnSpc>
                <a:spcPts val="21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585858"/>
                </a:solidFill>
              </a:defRPr>
            </a:pPr>
            <a:r>
              <a:rPr dirty="0"/>
              <a:t>Systematic grid search over hash tables &amp; bands with PR curves</a:t>
            </a:r>
          </a:p>
          <a:p>
            <a:pPr marL="285750" indent="-285750">
              <a:lnSpc>
                <a:spcPts val="21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585858"/>
                </a:solidFill>
              </a:defRPr>
            </a:pPr>
            <a:r>
              <a:rPr dirty="0"/>
              <a:t>Spark Structured Streaming for incremental duplicate checking</a:t>
            </a:r>
          </a:p>
          <a:p>
            <a:pPr marL="285750" indent="-285750">
              <a:lnSpc>
                <a:spcPts val="21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585858"/>
                </a:solidFill>
              </a:defRPr>
            </a:pPr>
            <a:r>
              <a:rPr dirty="0"/>
              <a:t>Compare </a:t>
            </a:r>
            <a:r>
              <a:rPr dirty="0" err="1"/>
              <a:t>MinHash</a:t>
            </a:r>
            <a:r>
              <a:rPr dirty="0"/>
              <a:t> LSH vs </a:t>
            </a:r>
            <a:r>
              <a:rPr dirty="0" err="1"/>
              <a:t>SimHash</a:t>
            </a:r>
            <a:r>
              <a:rPr dirty="0"/>
              <a:t> vs embedding-based ANN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45720" cy="41148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  <a:defRPr sz="1400" b="1">
                <a:solidFill>
                  <a:srgbClr val="2E75B6"/>
                </a:solidFill>
              </a:defRPr>
            </a:pPr>
            <a:r>
              <a:t>GitHub: github.com/Yoursuperherobasu/BigData_Project_Machine_Learning-_for_Big_Data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20"/>
              </a:lnSpc>
              <a:spcAft>
                <a:spcPts val="400"/>
              </a:spcAft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400"/>
              </a:spcAft>
              <a:defRPr sz="2400" b="0">
                <a:solidFill>
                  <a:srgbClr val="D6E4F0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D6E4F0"/>
                </a:solidFill>
              </a:defRPr>
            </a:pPr>
            <a:r>
              <a:t>Basu Singh  |  Nitin Jain  |  Shashi Saurav</a:t>
            </a:r>
            <a:br/>
            <a:r>
              <a:t>M.Tech. DCS — IIT Jodhpur</a:t>
            </a:r>
            <a:br/>
            <a:r>
              <a:t>github.com/Yoursuperherobasu/BigData_Project_Machine_Learning-_for_Big_Data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1666</Words>
  <Application>Microsoft Macintosh PowerPoint</Application>
  <PresentationFormat>Widescreen</PresentationFormat>
  <Paragraphs>222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Basu Singh</cp:lastModifiedBy>
  <cp:revision>5</cp:revision>
  <dcterms:created xsi:type="dcterms:W3CDTF">2013-01-27T09:14:16Z</dcterms:created>
  <dcterms:modified xsi:type="dcterms:W3CDTF">2026-04-18T10:40:49Z</dcterms:modified>
  <cp:category/>
</cp:coreProperties>
</file>